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11" r:id="rId3"/>
    <p:sldId id="301" r:id="rId4"/>
    <p:sldId id="310" r:id="rId5"/>
    <p:sldId id="290" r:id="rId6"/>
    <p:sldId id="304" r:id="rId7"/>
    <p:sldId id="321" r:id="rId8"/>
    <p:sldId id="322" r:id="rId9"/>
    <p:sldId id="318" r:id="rId10"/>
    <p:sldId id="323" r:id="rId11"/>
    <p:sldId id="319" r:id="rId12"/>
    <p:sldId id="307" r:id="rId13"/>
    <p:sldId id="30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52" y="8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B4BB2-35A9-44C8-8A3D-D3E95BD6F448}" type="datetimeFigureOut">
              <a:rPr lang="ru-RU" smtClean="0"/>
              <a:pPr/>
              <a:t>01.11.2025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04CDC-AD42-4F05-8890-AA62F16835F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874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04CDC-AD42-4F05-8890-AA62F16835FD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194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444F-9091-437A-964E-CC61E9871ADB}" type="datetime1">
              <a:rPr lang="ru-RU" smtClean="0"/>
              <a:pPr/>
              <a:t>01.11.2025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Laboratory of Control &amp; Navigation, LMSU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2C6B-2C2D-4357-B4CB-57B283D9BBB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972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0330-64A5-4776-ABF9-77D63FC927C5}" type="datetime1">
              <a:rPr lang="ru-RU" smtClean="0"/>
              <a:pPr/>
              <a:t>01.11.2025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Laboratory of Control &amp; Navigation, LMSU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2C6B-2C2D-4357-B4CB-57B283D9BBB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985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7086A-1EA8-4611-87D6-6DB1E12BD888}" type="datetime1">
              <a:rPr lang="ru-RU" smtClean="0"/>
              <a:pPr/>
              <a:t>01.11.2025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Laboratory of Control &amp; Navigation, LMSU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2C6B-2C2D-4357-B4CB-57B283D9BBB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82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86DF-193A-4BC8-A4D5-24D5C638204A}" type="datetime1">
              <a:rPr lang="ru-RU" smtClean="0"/>
              <a:pPr/>
              <a:t>01.11.2025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Laboratory of Control &amp; Navigation, LMSU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2C6B-2C2D-4357-B4CB-57B283D9BBB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67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F7AE-D6EC-4137-AA69-135A03748C43}" type="datetime1">
              <a:rPr lang="ru-RU" smtClean="0"/>
              <a:pPr/>
              <a:t>01.11.2025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Laboratory of Control &amp; Navigation, LMSU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2C6B-2C2D-4357-B4CB-57B283D9BBB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977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EAC68-ED42-42C4-B6C6-6E29DDABFCE5}" type="datetime1">
              <a:rPr lang="ru-RU" smtClean="0"/>
              <a:pPr/>
              <a:t>01.11.2025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Laboratory of Control &amp; Navigation, LMSU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2C6B-2C2D-4357-B4CB-57B283D9BBB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045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79704-5A72-4272-8155-4F8379B56622}" type="datetime1">
              <a:rPr lang="ru-RU" smtClean="0"/>
              <a:pPr/>
              <a:t>01.11.2025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Laboratory of Control &amp; Navigation, LMSU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2C6B-2C2D-4357-B4CB-57B283D9BBB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06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D6591-483C-4157-B333-7C7698CABC63}" type="datetime1">
              <a:rPr lang="ru-RU" smtClean="0"/>
              <a:pPr/>
              <a:t>01.11.2025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Laboratory of Control &amp; Navigation, LMSU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2C6B-2C2D-4357-B4CB-57B283D9BBB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278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DE05-4002-4F88-B6F1-682AC45F84CE}" type="datetime1">
              <a:rPr lang="ru-RU" smtClean="0"/>
              <a:pPr/>
              <a:t>01.11.2025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Laboratory of Control &amp; Navigation, LMSU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2C6B-2C2D-4357-B4CB-57B283D9BBB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29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8E4E0-5B94-4C7C-AD3C-AECF98F94148}" type="datetime1">
              <a:rPr lang="ru-RU" smtClean="0"/>
              <a:pPr/>
              <a:t>01.11.2025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Laboratory of Control &amp; Navigation, LMSU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2C6B-2C2D-4357-B4CB-57B283D9BBB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140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104A9-56EC-499D-9702-CE21C1839AC4}" type="datetime1">
              <a:rPr lang="ru-RU" smtClean="0"/>
              <a:pPr/>
              <a:t>01.11.2025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Laboratory of Control &amp; Navigation, LMSU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2C6B-2C2D-4357-B4CB-57B283D9BBB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987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C079B-61D6-485C-87E3-7B5D250E6D6F}" type="datetime1">
              <a:rPr lang="ru-RU" smtClean="0"/>
              <a:pPr/>
              <a:t>01.11.2025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Laboratory of Control &amp; Navigation, LMSU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D2C6B-2C2D-4357-B4CB-57B283D9BBB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254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8.jpeg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17600" y="1421475"/>
            <a:ext cx="9956800" cy="1662576"/>
          </a:xfrm>
        </p:spPr>
        <p:txBody>
          <a:bodyPr>
            <a:normAutofit/>
          </a:bodyPr>
          <a:lstStyle/>
          <a:p>
            <a:r>
              <a:rPr lang="ru-RU" sz="4800" b="1" dirty="0" err="1" smtClean="0">
                <a:solidFill>
                  <a:srgbClr val="CC3300"/>
                </a:solidFill>
                <a:latin typeface="+mn-lt"/>
              </a:rPr>
              <a:t>А</a:t>
            </a:r>
            <a:r>
              <a:rPr lang="ru-RU" sz="4800" b="1" u="none" dirty="0" err="1" smtClean="0">
                <a:solidFill>
                  <a:srgbClr val="CC3300"/>
                </a:solidFill>
                <a:latin typeface="+mn-lt"/>
              </a:rPr>
              <a:t>эрогравиметрия</a:t>
            </a:r>
            <a:r>
              <a:rPr lang="en-US" sz="3200" b="1" u="none" dirty="0" smtClean="0">
                <a:solidFill>
                  <a:srgbClr val="CC3300"/>
                </a:solidFill>
                <a:latin typeface="+mn-lt"/>
              </a:rPr>
              <a:t/>
            </a:r>
            <a:br>
              <a:rPr lang="en-US" sz="3200" b="1" u="none" dirty="0" smtClean="0">
                <a:solidFill>
                  <a:srgbClr val="CC3300"/>
                </a:solidFill>
                <a:latin typeface="+mn-lt"/>
              </a:rPr>
            </a:br>
            <a:endParaRPr lang="ru-RU" sz="2700" b="1" dirty="0">
              <a:solidFill>
                <a:srgbClr val="CC33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02806" y="2701279"/>
            <a:ext cx="9144000" cy="3623421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endParaRPr lang="ru-RU" dirty="0" smtClean="0"/>
          </a:p>
          <a:p>
            <a:pPr>
              <a:defRPr/>
            </a:pPr>
            <a:endParaRPr lang="ru-RU" sz="1900" dirty="0" smtClean="0"/>
          </a:p>
          <a:p>
            <a:pPr>
              <a:defRPr/>
            </a:pPr>
            <a:r>
              <a:rPr lang="ru-RU" dirty="0" smtClean="0"/>
              <a:t>Лаборатория управления и навигации</a:t>
            </a:r>
            <a:endParaRPr lang="en-US" dirty="0"/>
          </a:p>
          <a:p>
            <a:pPr>
              <a:defRPr/>
            </a:pPr>
            <a:r>
              <a:rPr lang="ru-RU" dirty="0" smtClean="0"/>
              <a:t>Кафедра прикладной механики и управления</a:t>
            </a:r>
            <a:endParaRPr lang="en-US" dirty="0" smtClean="0"/>
          </a:p>
          <a:p>
            <a:pPr>
              <a:defRPr/>
            </a:pPr>
            <a:r>
              <a:rPr lang="ru-RU" dirty="0" smtClean="0"/>
              <a:t>Механико-математический факультет</a:t>
            </a:r>
          </a:p>
          <a:p>
            <a:pPr>
              <a:defRPr/>
            </a:pPr>
            <a:r>
              <a:rPr lang="ru-RU" dirty="0" smtClean="0"/>
              <a:t>МГУ имени М.В. Ломоносова</a:t>
            </a:r>
            <a:endParaRPr lang="en-US" dirty="0" smtClean="0"/>
          </a:p>
          <a:p>
            <a:pPr>
              <a:defRPr/>
            </a:pPr>
            <a:endParaRPr lang="ru-RU" dirty="0"/>
          </a:p>
          <a:p>
            <a:endParaRPr lang="en-US" sz="2200" b="0" u="none" dirty="0" smtClean="0">
              <a:latin typeface="+mn-lt"/>
            </a:endParaRPr>
          </a:p>
          <a:p>
            <a:r>
              <a:rPr lang="ru-RU" sz="2200" dirty="0" smtClean="0"/>
              <a:t>Москва</a:t>
            </a:r>
            <a:r>
              <a:rPr lang="en-US" sz="2200" dirty="0" smtClean="0"/>
              <a:t> – </a:t>
            </a:r>
            <a:r>
              <a:rPr lang="ru-RU" sz="2200" dirty="0" smtClean="0"/>
              <a:t>202</a:t>
            </a:r>
            <a:r>
              <a:rPr lang="en-US" sz="2200" dirty="0" smtClean="0"/>
              <a:t>5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80" y="116273"/>
            <a:ext cx="848883" cy="112839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080" y="116273"/>
            <a:ext cx="784855" cy="827280"/>
          </a:xfrm>
          <a:prstGeom prst="rect">
            <a:avLst/>
          </a:prstGeom>
        </p:spPr>
      </p:pic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839071" cy="365125"/>
          </a:xfrm>
        </p:spPr>
        <p:txBody>
          <a:bodyPr/>
          <a:lstStyle/>
          <a:p>
            <a:r>
              <a:rPr lang="ru-RU" dirty="0" smtClean="0"/>
              <a:t>Лаб. управления и навигации МГУ им. М.В. Ломоносова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5297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8336" y="178512"/>
            <a:ext cx="10515600" cy="101600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Обзор доклада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8336" y="626534"/>
            <a:ext cx="10515600" cy="55700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000" dirty="0" smtClean="0"/>
          </a:p>
          <a:p>
            <a:pPr marL="0" indent="0">
              <a:buNone/>
            </a:pPr>
            <a:endParaRPr lang="en-US" sz="3200" dirty="0" smtClean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ru-RU" dirty="0"/>
              <a:t> Что такое </a:t>
            </a:r>
            <a:r>
              <a:rPr lang="ru-RU" dirty="0" err="1"/>
              <a:t>аэрогравиметрия</a:t>
            </a:r>
            <a:r>
              <a:rPr lang="ru-RU" dirty="0"/>
              <a:t>?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ru-RU" dirty="0"/>
              <a:t> </a:t>
            </a:r>
            <a:r>
              <a:rPr lang="ru-RU" dirty="0" smtClean="0"/>
              <a:t>Принцип работы гравиметра</a:t>
            </a:r>
            <a:endParaRPr lang="ru-RU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ru-RU" dirty="0"/>
              <a:t>Основная задача </a:t>
            </a:r>
            <a:r>
              <a:rPr lang="ru-RU" dirty="0" err="1"/>
              <a:t>аэрогравиметрии</a:t>
            </a:r>
            <a:endParaRPr lang="ru-RU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ru-RU" dirty="0"/>
              <a:t> Примеры обработки </a:t>
            </a:r>
            <a:r>
              <a:rPr lang="ru-RU" dirty="0" smtClean="0"/>
              <a:t>данных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Лаб. управления и навигации МГУ им. М.В. Ломоносова </a:t>
            </a:r>
          </a:p>
        </p:txBody>
      </p:sp>
    </p:spTree>
    <p:extLst>
      <p:ext uri="{BB962C8B-B14F-4D97-AF65-F5344CB8AC3E}">
        <p14:creationId xmlns:p14="http://schemas.microsoft.com/office/powerpoint/2010/main" val="179816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2130" y="126541"/>
            <a:ext cx="10515600" cy="1016000"/>
          </a:xfrm>
        </p:spPr>
        <p:txBody>
          <a:bodyPr/>
          <a:lstStyle/>
          <a:p>
            <a:r>
              <a:rPr lang="ru-RU" b="1" dirty="0" err="1" smtClean="0">
                <a:solidFill>
                  <a:srgbClr val="C00000"/>
                </a:solidFill>
              </a:rPr>
              <a:t>Аэрогравиметрия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1874" y="948499"/>
            <a:ext cx="9252098" cy="53494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 smtClean="0"/>
              <a:t>Наука об измерении аномалии силы </a:t>
            </a:r>
            <a:r>
              <a:rPr lang="ru-RU" sz="2600" dirty="0"/>
              <a:t>тяжести Земли </a:t>
            </a:r>
            <a:r>
              <a:rPr lang="ru-RU" sz="2600" dirty="0" smtClean="0"/>
              <a:t>с самолета с </a:t>
            </a:r>
            <a:r>
              <a:rPr lang="ru-RU" sz="2600" dirty="0"/>
              <a:t>точностью </a:t>
            </a:r>
            <a:r>
              <a:rPr lang="ru-RU" sz="2600" dirty="0" smtClean="0"/>
              <a:t>до 1 </a:t>
            </a:r>
            <a:r>
              <a:rPr lang="ru-RU" sz="2600" dirty="0" err="1" smtClean="0"/>
              <a:t>мГал</a:t>
            </a:r>
            <a:r>
              <a:rPr lang="ru-RU" sz="2600" dirty="0" smtClean="0"/>
              <a:t> (=10</a:t>
            </a:r>
            <a:r>
              <a:rPr lang="ru-RU" sz="2600" baseline="30000" dirty="0" smtClean="0"/>
              <a:t>-5  </a:t>
            </a:r>
            <a:r>
              <a:rPr lang="ru-RU" sz="2600" dirty="0" smtClean="0"/>
              <a:t>м/с</a:t>
            </a:r>
            <a:r>
              <a:rPr lang="ru-RU" sz="2600" baseline="30000" dirty="0" smtClean="0"/>
              <a:t>2</a:t>
            </a:r>
            <a:r>
              <a:rPr lang="ru-RU" sz="2600" dirty="0" smtClean="0"/>
              <a:t>)</a:t>
            </a:r>
            <a:endParaRPr lang="ru-RU" sz="2600" dirty="0"/>
          </a:p>
          <a:p>
            <a:pPr marL="0" indent="0">
              <a:buNone/>
            </a:pPr>
            <a:endParaRPr lang="ru-RU" sz="2600" i="1" dirty="0" smtClean="0"/>
          </a:p>
          <a:p>
            <a:pPr marL="0" indent="0">
              <a:buNone/>
            </a:pPr>
            <a:endParaRPr lang="ru-RU" sz="2600" i="1" dirty="0" smtClean="0"/>
          </a:p>
          <a:p>
            <a:pPr>
              <a:buFont typeface="Courier New" panose="02070309020205020404" pitchFamily="49" charset="0"/>
              <a:buChar char="o"/>
            </a:pPr>
            <a:endParaRPr lang="ru-RU" sz="2600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Лаб. управления и навигации МГУ им. М.В. Ломоносова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82" y="1870886"/>
            <a:ext cx="3028950" cy="372618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31874" y="5579310"/>
            <a:ext cx="39051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Линии </a:t>
            </a:r>
            <a:r>
              <a:rPr lang="ru-RU" dirty="0" err="1" smtClean="0"/>
              <a:t>галсов</a:t>
            </a:r>
            <a:r>
              <a:rPr lang="ru-RU" dirty="0" smtClean="0"/>
              <a:t> </a:t>
            </a:r>
            <a:r>
              <a:rPr lang="ru-RU" dirty="0" err="1" smtClean="0"/>
              <a:t>аэрогравиметрической</a:t>
            </a:r>
            <a:r>
              <a:rPr lang="ru-RU" dirty="0" smtClean="0"/>
              <a:t> </a:t>
            </a:r>
          </a:p>
          <a:p>
            <a:r>
              <a:rPr lang="ru-RU" dirty="0" smtClean="0"/>
              <a:t>съемки в Арктике (о. Новая Земля)</a:t>
            </a:r>
            <a:endParaRPr lang="en-GB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4" y="1837413"/>
            <a:ext cx="4264819" cy="375761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6020990" y="5567182"/>
            <a:ext cx="4754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Карта аномалии силы тяжести и линии </a:t>
            </a:r>
            <a:r>
              <a:rPr lang="ru-RU" dirty="0" err="1" smtClean="0"/>
              <a:t>галсов</a:t>
            </a:r>
            <a:r>
              <a:rPr lang="ru-RU" dirty="0" smtClean="0"/>
              <a:t> </a:t>
            </a:r>
          </a:p>
          <a:p>
            <a:r>
              <a:rPr lang="ru-RU" dirty="0" smtClean="0"/>
              <a:t>(о. Новая Земля)</a:t>
            </a:r>
            <a:endParaRPr lang="en-GB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458336" y="178512"/>
            <a:ext cx="10515600" cy="101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7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8336" y="178512"/>
            <a:ext cx="10515600" cy="101600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Области </a:t>
            </a:r>
            <a:r>
              <a:rPr lang="ru-RU" b="1" dirty="0" smtClean="0">
                <a:solidFill>
                  <a:srgbClr val="C00000"/>
                </a:solidFill>
              </a:rPr>
              <a:t>применения результатов съемок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8336" y="626534"/>
            <a:ext cx="10515600" cy="55700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000" dirty="0" smtClean="0"/>
          </a:p>
          <a:p>
            <a:pPr marL="0" indent="0">
              <a:buNone/>
            </a:pPr>
            <a:endParaRPr lang="en-US" sz="3200" dirty="0" smtClean="0"/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dirty="0" smtClean="0"/>
              <a:t> Геология и геофизика (разведка полезных ископаемых)</a:t>
            </a:r>
            <a:endParaRPr lang="ru-RU" dirty="0"/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dirty="0"/>
              <a:t> Изучение строения Земли (сейсмология, </a:t>
            </a:r>
            <a:r>
              <a:rPr lang="ru-RU" dirty="0" smtClean="0"/>
              <a:t>геодинамика) </a:t>
            </a:r>
            <a:endParaRPr lang="ru-RU" dirty="0"/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dirty="0"/>
              <a:t> </a:t>
            </a:r>
            <a:r>
              <a:rPr lang="ru-RU" dirty="0" smtClean="0"/>
              <a:t>Геодезия (определение геоида – фигуры Земли)</a:t>
            </a:r>
            <a:endParaRPr lang="ru-RU" dirty="0"/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dirty="0"/>
              <a:t> Навигация по гравитационному полю Земли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dirty="0"/>
              <a:t> </a:t>
            </a:r>
            <a:r>
              <a:rPr lang="ru-RU" dirty="0" smtClean="0"/>
              <a:t>Гляциология, гидрология   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Лаб. управления и навигации МГУ им. М.В. Ломоносова </a:t>
            </a:r>
          </a:p>
        </p:txBody>
      </p:sp>
    </p:spTree>
    <p:extLst>
      <p:ext uri="{BB962C8B-B14F-4D97-AF65-F5344CB8AC3E}">
        <p14:creationId xmlns:p14="http://schemas.microsoft.com/office/powerpoint/2010/main" val="169373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8336" y="178512"/>
            <a:ext cx="10515600" cy="1016000"/>
          </a:xfrm>
        </p:spPr>
        <p:txBody>
          <a:bodyPr>
            <a:normAutofit/>
          </a:bodyPr>
          <a:lstStyle/>
          <a:p>
            <a:r>
              <a:rPr lang="ru-RU" b="1" dirty="0" err="1" smtClean="0">
                <a:solidFill>
                  <a:srgbClr val="C00000"/>
                </a:solidFill>
              </a:rPr>
              <a:t>Аэрогравиметр</a:t>
            </a:r>
            <a:r>
              <a:rPr lang="ru-RU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GT</a:t>
            </a:r>
            <a:r>
              <a:rPr lang="ru-RU" b="1" dirty="0" smtClean="0">
                <a:solidFill>
                  <a:srgbClr val="C00000"/>
                </a:solidFill>
              </a:rPr>
              <a:t>-2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8336" y="626534"/>
            <a:ext cx="7112045" cy="57298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1000" dirty="0" smtClean="0"/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ru-RU" sz="2600" dirty="0" smtClean="0"/>
              <a:t>Состав: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3000" dirty="0" smtClean="0"/>
              <a:t> </a:t>
            </a:r>
            <a:r>
              <a:rPr lang="ru-RU" sz="2600" dirty="0" err="1" smtClean="0"/>
              <a:t>Горизонтируемая</a:t>
            </a:r>
            <a:r>
              <a:rPr lang="ru-RU" sz="2600" dirty="0" smtClean="0"/>
              <a:t> </a:t>
            </a:r>
            <a:r>
              <a:rPr lang="ru-RU" sz="2600" dirty="0" err="1" smtClean="0"/>
              <a:t>гироплатформа</a:t>
            </a:r>
            <a:endParaRPr lang="en-US" sz="2600" dirty="0" smtClean="0"/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600" dirty="0" smtClean="0"/>
              <a:t> Гравиметрический датчик (акселерометр) с вертикальной осью чувствительности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600" dirty="0" smtClean="0"/>
              <a:t> Приемники глобальной навигационной </a:t>
            </a:r>
            <a:r>
              <a:rPr lang="ru-RU" sz="2600" dirty="0"/>
              <a:t>спутниковой системы </a:t>
            </a:r>
            <a:r>
              <a:rPr lang="ru-RU" sz="2600" dirty="0" smtClean="0"/>
              <a:t>(ГНСС) – </a:t>
            </a:r>
            <a:r>
              <a:rPr lang="en-US" sz="2600" dirty="0" smtClean="0"/>
              <a:t>GPS, </a:t>
            </a:r>
            <a:r>
              <a:rPr lang="ru-RU" sz="2600" dirty="0" smtClean="0"/>
              <a:t>ГЛОНАСС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600" dirty="0">
                <a:solidFill>
                  <a:srgbClr val="0070C0"/>
                </a:solidFill>
              </a:rPr>
              <a:t> </a:t>
            </a:r>
            <a:r>
              <a:rPr lang="ru-RU" sz="2600" dirty="0" smtClean="0">
                <a:solidFill>
                  <a:srgbClr val="0070C0"/>
                </a:solidFill>
              </a:rPr>
              <a:t>Программное обеспечение (ПО) обработки данных</a:t>
            </a:r>
          </a:p>
          <a:p>
            <a:pPr marL="0" indent="0">
              <a:spcAft>
                <a:spcPts val="600"/>
              </a:spcAft>
              <a:buNone/>
            </a:pPr>
            <a:endParaRPr lang="ru-RU" sz="2000" dirty="0" smtClean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000" dirty="0" smtClean="0"/>
              <a:t>Производитель – ЗАО «</a:t>
            </a:r>
            <a:r>
              <a:rPr lang="ru-RU" sz="2000" dirty="0" err="1" smtClean="0"/>
              <a:t>Гравтехнология</a:t>
            </a:r>
            <a:r>
              <a:rPr lang="ru-RU" sz="2000" dirty="0" smtClean="0"/>
              <a:t>», разработка ПО – Лаборатория управления и навигации МГУ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Лаб. управления и навигации МГУ им. М.В. Ломоносова </a:t>
            </a:r>
          </a:p>
        </p:txBody>
      </p:sp>
      <p:pic>
        <p:nvPicPr>
          <p:cNvPr id="6" name="Picture 4" descr="GT1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70758" y="1099438"/>
            <a:ext cx="3579813" cy="4456113"/>
          </a:xfrm>
          <a:prstGeom prst="rect">
            <a:avLst/>
          </a:prstGeom>
          <a:noFill/>
          <a:ln/>
        </p:spPr>
      </p:pic>
    </p:spTree>
    <p:extLst>
      <p:ext uri="{BB962C8B-B14F-4D97-AF65-F5344CB8AC3E}">
        <p14:creationId xmlns:p14="http://schemas.microsoft.com/office/powerpoint/2010/main" val="33409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8336" y="178512"/>
            <a:ext cx="10515600" cy="1016000"/>
          </a:xfrm>
        </p:spPr>
        <p:txBody>
          <a:bodyPr>
            <a:normAutofit/>
          </a:bodyPr>
          <a:lstStyle/>
          <a:p>
            <a:r>
              <a:rPr lang="ru-RU" b="1" dirty="0" err="1" smtClean="0">
                <a:solidFill>
                  <a:srgbClr val="C00000"/>
                </a:solidFill>
              </a:rPr>
              <a:t>Аэрогравиметр</a:t>
            </a:r>
            <a:r>
              <a:rPr lang="ru-RU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GT</a:t>
            </a:r>
            <a:r>
              <a:rPr lang="ru-RU" b="1" dirty="0" smtClean="0">
                <a:solidFill>
                  <a:srgbClr val="C00000"/>
                </a:solidFill>
              </a:rPr>
              <a:t>-</a:t>
            </a:r>
            <a:r>
              <a:rPr lang="en-US" b="1" dirty="0" smtClean="0">
                <a:solidFill>
                  <a:srgbClr val="C00000"/>
                </a:solidFill>
              </a:rPr>
              <a:t>2A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106" y="680566"/>
            <a:ext cx="8041294" cy="567578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ru-RU" sz="1000" dirty="0"/>
          </a:p>
          <a:p>
            <a:pPr marL="457200" lvl="1" indent="0">
              <a:buNone/>
            </a:pPr>
            <a:endParaRPr lang="ru-RU" sz="1000" b="1" dirty="0" smtClean="0"/>
          </a:p>
          <a:p>
            <a:pPr marL="457200" lvl="1" indent="0">
              <a:buNone/>
            </a:pPr>
            <a:r>
              <a:rPr lang="ru-RU" sz="2600" dirty="0" smtClean="0"/>
              <a:t>Цель обработки измерений – определить</a:t>
            </a:r>
          </a:p>
          <a:p>
            <a:pPr marL="457200" lvl="1" indent="0">
              <a:buNone/>
            </a:pPr>
            <a:r>
              <a:rPr lang="ru-RU" sz="2600" u="sng" dirty="0" smtClean="0"/>
              <a:t>аномалию силы тяжести</a:t>
            </a:r>
            <a:r>
              <a:rPr lang="ru-RU" sz="2600" dirty="0" smtClean="0"/>
              <a:t> </a:t>
            </a:r>
            <a:r>
              <a:rPr lang="el-GR" sz="2600" dirty="0" smtClean="0"/>
              <a:t>Δ</a:t>
            </a:r>
            <a:r>
              <a:rPr lang="en-US" sz="2600" dirty="0" smtClean="0"/>
              <a:t>g </a:t>
            </a:r>
            <a:r>
              <a:rPr lang="ru-RU" sz="2600" dirty="0" smtClean="0"/>
              <a:t>на траектории полета </a:t>
            </a:r>
          </a:p>
          <a:p>
            <a:pPr marL="457200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dirty="0" smtClean="0"/>
              <a:t>	</a:t>
            </a:r>
            <a:r>
              <a:rPr lang="ru-RU" sz="2000" dirty="0"/>
              <a:t> </a:t>
            </a:r>
            <a:r>
              <a:rPr lang="ru-RU" sz="2000" dirty="0" smtClean="0"/>
              <a:t>                               - измерения высоты (по ГНСС)</a:t>
            </a:r>
            <a:endParaRPr lang="ru-RU" sz="2000" dirty="0"/>
          </a:p>
          <a:p>
            <a:pPr marL="457200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dirty="0"/>
              <a:t>	                                - измерения </a:t>
            </a:r>
            <a:r>
              <a:rPr lang="ru-RU" sz="2000" dirty="0" smtClean="0"/>
              <a:t>вертикальной скорости (по ГНСС</a:t>
            </a:r>
            <a:r>
              <a:rPr lang="ru-RU" sz="2000" dirty="0"/>
              <a:t>)</a:t>
            </a:r>
          </a:p>
          <a:p>
            <a:pPr marL="457200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dirty="0" smtClean="0"/>
              <a:t> 		                - измерения внешней силы (гравиметр)</a:t>
            </a:r>
          </a:p>
          <a:p>
            <a:pPr marL="457200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dirty="0" smtClean="0"/>
              <a:t>                                            </a:t>
            </a:r>
            <a:r>
              <a:rPr lang="ru-RU" sz="2000" dirty="0" smtClean="0"/>
              <a:t>- погрешности измерений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ru-RU" sz="2000" dirty="0" smtClean="0"/>
              <a:t>Основное уравнение </a:t>
            </a:r>
            <a:r>
              <a:rPr lang="ru-RU" sz="2000" dirty="0" err="1" smtClean="0"/>
              <a:t>аэрогравиметрии</a:t>
            </a:r>
            <a:r>
              <a:rPr lang="ru-RU" sz="2000" dirty="0" smtClean="0"/>
              <a:t>:</a:t>
            </a:r>
          </a:p>
          <a:p>
            <a:pPr marL="457200" lvl="1" indent="0">
              <a:buNone/>
            </a:pPr>
            <a:endParaRPr lang="ru-RU" sz="2000" dirty="0" smtClean="0"/>
          </a:p>
          <a:p>
            <a:pPr marL="457200" lvl="1" indent="0">
              <a:buNone/>
            </a:pPr>
            <a:endParaRPr lang="ru-RU" sz="2000" b="1" i="1" dirty="0" smtClean="0"/>
          </a:p>
          <a:p>
            <a:pPr marL="457200" lvl="1" indent="0">
              <a:buNone/>
            </a:pPr>
            <a:r>
              <a:rPr lang="ru-RU" sz="2000" b="1" i="1" dirty="0" smtClean="0"/>
              <a:t>Определение. </a:t>
            </a:r>
            <a:r>
              <a:rPr lang="ru-RU" sz="2000" i="1" dirty="0" smtClean="0"/>
              <a:t>Аномалия силы тяжести </a:t>
            </a:r>
            <a:r>
              <a:rPr lang="el-GR" sz="2000" i="1" dirty="0" smtClean="0"/>
              <a:t>Δ</a:t>
            </a:r>
            <a:r>
              <a:rPr lang="en-US" sz="2000" dirty="0" smtClean="0"/>
              <a:t>g</a:t>
            </a:r>
            <a:r>
              <a:rPr lang="ru-RU" sz="2000" i="1" dirty="0" smtClean="0"/>
              <a:t> – разность реальной силы тяжести </a:t>
            </a:r>
            <a:r>
              <a:rPr lang="en-US" sz="2000" dirty="0" smtClean="0"/>
              <a:t>g</a:t>
            </a:r>
            <a:r>
              <a:rPr lang="en-US" sz="2000" i="1" dirty="0" smtClean="0"/>
              <a:t> </a:t>
            </a:r>
            <a:r>
              <a:rPr lang="ru-RU" sz="2000" i="1" dirty="0" smtClean="0"/>
              <a:t>и нормальной (теоретической) </a:t>
            </a:r>
            <a:r>
              <a:rPr lang="en-US" sz="2000" dirty="0" smtClean="0"/>
              <a:t>g</a:t>
            </a:r>
            <a:r>
              <a:rPr lang="ru-RU" sz="2000" baseline="-25000" dirty="0" smtClean="0"/>
              <a:t>0</a:t>
            </a:r>
            <a:r>
              <a:rPr lang="ru-RU" sz="2000" i="1" dirty="0" smtClean="0"/>
              <a:t>. 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Лаб. управления и навигации МГУ им. М.В. Ломоносова </a:t>
            </a:r>
          </a:p>
        </p:txBody>
      </p:sp>
      <p:graphicFrame>
        <p:nvGraphicFramePr>
          <p:cNvPr id="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142924"/>
              </p:ext>
            </p:extLst>
          </p:nvPr>
        </p:nvGraphicFramePr>
        <p:xfrm>
          <a:off x="588179" y="1862751"/>
          <a:ext cx="2370138" cy="240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7" name="Equation" r:id="rId3" imgW="1041120" imgH="1041120" progId="Equation.DSMT4">
                  <p:embed/>
                </p:oleObj>
              </mc:Choice>
              <mc:Fallback>
                <p:oleObj name="Equation" r:id="rId3" imgW="1041120" imgH="1041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179" y="1862751"/>
                        <a:ext cx="2370138" cy="2401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177745"/>
            <a:ext cx="3694176" cy="377190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999260" y="4937423"/>
            <a:ext cx="40024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err="1" smtClean="0"/>
              <a:t>Аэрогравиметр</a:t>
            </a:r>
            <a:r>
              <a:rPr lang="ru-RU" dirty="0" smtClean="0"/>
              <a:t> </a:t>
            </a:r>
            <a:r>
              <a:rPr lang="en-US" dirty="0" smtClean="0"/>
              <a:t>GT-2A</a:t>
            </a:r>
            <a:r>
              <a:rPr lang="ru-RU" dirty="0" smtClean="0"/>
              <a:t> на борту самолета Ан-26</a:t>
            </a:r>
            <a:endParaRPr lang="en-GB" dirty="0"/>
          </a:p>
        </p:txBody>
      </p:sp>
      <p:graphicFrame>
        <p:nvGraphicFramePr>
          <p:cNvPr id="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345179"/>
              </p:ext>
            </p:extLst>
          </p:nvPr>
        </p:nvGraphicFramePr>
        <p:xfrm>
          <a:off x="1773248" y="4624902"/>
          <a:ext cx="39592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8" name="Equation" r:id="rId6" imgW="1739880" imgH="266400" progId="Equation.DSMT4">
                  <p:embed/>
                </p:oleObj>
              </mc:Choice>
              <mc:Fallback>
                <p:oleObj name="Equation" r:id="rId6" imgW="17398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248" y="4624902"/>
                        <a:ext cx="3959225" cy="615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6231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8336" y="178512"/>
            <a:ext cx="10515600" cy="1016000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Задачи </a:t>
            </a:r>
            <a:r>
              <a:rPr lang="ru-RU" b="1" dirty="0" err="1" smtClean="0">
                <a:solidFill>
                  <a:srgbClr val="C00000"/>
                </a:solidFill>
              </a:rPr>
              <a:t>аэрогравиметрии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106" y="680566"/>
            <a:ext cx="10515600" cy="548631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ru-RU" sz="1000" dirty="0"/>
          </a:p>
          <a:p>
            <a:pPr marL="457200" lvl="1" indent="0">
              <a:buNone/>
            </a:pPr>
            <a:endParaRPr lang="ru-RU" sz="1000" b="1" dirty="0" smtClean="0"/>
          </a:p>
          <a:p>
            <a:pPr marL="457200" lvl="1" indent="0">
              <a:buNone/>
            </a:pPr>
            <a:endParaRPr lang="ru-RU" sz="2600" dirty="0" smtClean="0"/>
          </a:p>
          <a:p>
            <a:pPr marL="457200" lvl="1" indent="0">
              <a:buNone/>
            </a:pPr>
            <a:r>
              <a:rPr lang="ru-RU" sz="2200" dirty="0" smtClean="0"/>
              <a:t>Обработка измерений </a:t>
            </a:r>
            <a:r>
              <a:rPr lang="ru-RU" sz="2200" dirty="0" err="1" smtClean="0"/>
              <a:t>аэрогравиметра</a:t>
            </a:r>
            <a:r>
              <a:rPr lang="ru-RU" sz="2200" dirty="0" smtClean="0"/>
              <a:t> состоит из нескольких этапов:</a:t>
            </a:r>
          </a:p>
          <a:p>
            <a:pPr marL="457200" lvl="1" indent="0">
              <a:buNone/>
            </a:pPr>
            <a:endParaRPr lang="ru-RU" sz="2200" dirty="0"/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200" dirty="0" smtClean="0"/>
              <a:t>Решение задачи спутниковой навигации – определение координат, скорости и ускорений самолета по измерениям ГНСС-приемников.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200" dirty="0" smtClean="0"/>
              <a:t>Решение задачи </a:t>
            </a:r>
            <a:r>
              <a:rPr lang="ru-RU" sz="2200" dirty="0" err="1" smtClean="0"/>
              <a:t>инерциально</a:t>
            </a:r>
            <a:r>
              <a:rPr lang="ru-RU" sz="2200" dirty="0" smtClean="0"/>
              <a:t>-спутниковой навигации - определение углов наклона </a:t>
            </a:r>
            <a:r>
              <a:rPr lang="ru-RU" sz="2200" dirty="0" err="1" smtClean="0"/>
              <a:t>гироплатформы</a:t>
            </a:r>
            <a:r>
              <a:rPr lang="ru-RU" sz="2200" dirty="0" smtClean="0"/>
              <a:t> по показаниям датчиков (акселерометры, гироскопы) </a:t>
            </a:r>
            <a:r>
              <a:rPr lang="ru-RU" sz="2200" dirty="0" err="1" smtClean="0"/>
              <a:t>гироплатформы</a:t>
            </a:r>
            <a:r>
              <a:rPr lang="ru-RU" sz="2200" dirty="0" smtClean="0"/>
              <a:t> и данным ГНСС.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200" dirty="0" smtClean="0"/>
              <a:t>Решение </a:t>
            </a:r>
            <a:r>
              <a:rPr lang="ru-RU" sz="2200" b="1" dirty="0" smtClean="0"/>
              <a:t>основного уравнения</a:t>
            </a:r>
            <a:r>
              <a:rPr lang="ru-RU" sz="2200" dirty="0" smtClean="0"/>
              <a:t> </a:t>
            </a:r>
            <a:r>
              <a:rPr lang="ru-RU" sz="2200" dirty="0" err="1" smtClean="0"/>
              <a:t>аэрогравиметрии</a:t>
            </a:r>
            <a:r>
              <a:rPr lang="ru-RU" sz="2200" dirty="0" smtClean="0"/>
              <a:t> - определение </a:t>
            </a:r>
            <a:r>
              <a:rPr lang="ru-RU" sz="2200" b="1" dirty="0" smtClean="0"/>
              <a:t>аномалии силы тяжести</a:t>
            </a:r>
            <a:r>
              <a:rPr lang="ru-RU" sz="2200" dirty="0" smtClean="0"/>
              <a:t> на траектории самолета.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2200" dirty="0" smtClean="0"/>
              <a:t>Построение карты аномалии силы тяжести по данным с нескольких полетов.</a:t>
            </a:r>
          </a:p>
          <a:p>
            <a:pPr marL="457200" lvl="1" indent="0">
              <a:buNone/>
            </a:pPr>
            <a:endParaRPr lang="ru-RU" sz="2000" dirty="0" smtClean="0"/>
          </a:p>
          <a:p>
            <a:pPr lvl="1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Лаб. управления и навигации МГУ им. М.В. Ломоносова </a:t>
            </a:r>
          </a:p>
        </p:txBody>
      </p:sp>
    </p:spTree>
    <p:extLst>
      <p:ext uri="{BB962C8B-B14F-4D97-AF65-F5344CB8AC3E}">
        <p14:creationId xmlns:p14="http://schemas.microsoft.com/office/powerpoint/2010/main" val="401049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8336" y="178512"/>
            <a:ext cx="10515600" cy="1016000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Основное </a:t>
            </a:r>
            <a:r>
              <a:rPr lang="ru-RU" b="1" dirty="0">
                <a:solidFill>
                  <a:srgbClr val="C00000"/>
                </a:solidFill>
              </a:rPr>
              <a:t>уравнение </a:t>
            </a:r>
            <a:r>
              <a:rPr lang="ru-RU" b="1" dirty="0" err="1">
                <a:solidFill>
                  <a:srgbClr val="C00000"/>
                </a:solidFill>
              </a:rPr>
              <a:t>аэрогравиметрии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106" y="680566"/>
            <a:ext cx="9520992" cy="567578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ru-RU" sz="1000" dirty="0"/>
          </a:p>
          <a:p>
            <a:pPr marL="457200" lvl="1" indent="0">
              <a:buNone/>
            </a:pPr>
            <a:endParaRPr lang="ru-RU" sz="1000" b="1" dirty="0" smtClean="0"/>
          </a:p>
          <a:p>
            <a:pPr marL="457200" indent="-457200"/>
            <a:endParaRPr lang="en-US" dirty="0" smtClean="0"/>
          </a:p>
          <a:p>
            <a:pPr marL="457200" indent="-457200"/>
            <a:endParaRPr lang="ru-RU" dirty="0" smtClean="0"/>
          </a:p>
          <a:p>
            <a:pPr marL="457200" indent="-457200"/>
            <a:endParaRPr lang="ru-RU" dirty="0"/>
          </a:p>
          <a:p>
            <a:pPr marL="457200" indent="-457200"/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sz="2200" dirty="0" smtClean="0"/>
              <a:t>                       </a:t>
            </a:r>
            <a:r>
              <a:rPr lang="en-US" sz="2200" dirty="0" smtClean="0"/>
              <a:t> </a:t>
            </a:r>
            <a:r>
              <a:rPr lang="ru-RU" sz="2200" dirty="0" smtClean="0"/>
              <a:t>  и</a:t>
            </a:r>
            <a:r>
              <a:rPr lang="en-US" sz="2200" dirty="0" smtClean="0"/>
              <a:t> </a:t>
            </a:r>
            <a:r>
              <a:rPr lang="ru-RU" sz="2200" dirty="0"/>
              <a:t>поправка Этвеша определяются по данным </a:t>
            </a:r>
            <a:r>
              <a:rPr lang="ru-RU" sz="2200" dirty="0" smtClean="0"/>
              <a:t>ГНСС</a:t>
            </a:r>
            <a:endParaRPr lang="ru-RU" sz="2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200" i="1" dirty="0" smtClean="0">
                <a:cs typeface="Times New Roman" panose="02020603050405020304" pitchFamily="18" charset="0"/>
              </a:rPr>
              <a:t> </a:t>
            </a:r>
            <a:r>
              <a:rPr lang="en-US" sz="2200" i="1" dirty="0" err="1" smtClean="0">
                <a:cs typeface="Times New Roman" panose="02020603050405020304" pitchFamily="18" charset="0"/>
              </a:rPr>
              <a:t>f</a:t>
            </a:r>
            <a:r>
              <a:rPr lang="en-US" sz="2200" i="1" baseline="-25000" dirty="0" err="1" smtClean="0"/>
              <a:t>up</a:t>
            </a:r>
            <a:r>
              <a:rPr lang="ru-RU" sz="2200" dirty="0" smtClean="0"/>
              <a:t>  </a:t>
            </a:r>
            <a:r>
              <a:rPr lang="ru-RU" sz="2200" dirty="0"/>
              <a:t>измеряется гравиметром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Лаб. управления и навигации МГУ им. М.В. Ломоносова </a:t>
            </a:r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627830"/>
              </p:ext>
            </p:extLst>
          </p:nvPr>
        </p:nvGraphicFramePr>
        <p:xfrm>
          <a:off x="112106" y="1691006"/>
          <a:ext cx="1213485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name="Equation" r:id="rId3" imgW="4457520" imgH="634680" progId="Equation.DSMT4">
                  <p:embed/>
                </p:oleObj>
              </mc:Choice>
              <mc:Fallback>
                <p:oleObj name="Equation" r:id="rId3" imgW="445752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106" y="1691006"/>
                        <a:ext cx="12134850" cy="17272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596970"/>
              </p:ext>
            </p:extLst>
          </p:nvPr>
        </p:nvGraphicFramePr>
        <p:xfrm>
          <a:off x="386356" y="3471371"/>
          <a:ext cx="1671638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" name="Equation" r:id="rId5" imgW="596880" imgH="253800" progId="Equation.DSMT4">
                  <p:embed/>
                </p:oleObj>
              </mc:Choice>
              <mc:Fallback>
                <p:oleObj name="Equation" r:id="rId5" imgW="5968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6356" y="3471371"/>
                        <a:ext cx="1671638" cy="709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826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8335" y="178512"/>
            <a:ext cx="11152417" cy="1016000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Пример траектории полета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9556" y="686512"/>
            <a:ext cx="10708019" cy="50339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ru-RU" sz="1000" dirty="0"/>
          </a:p>
          <a:p>
            <a:pPr marL="457200" lvl="1" indent="0">
              <a:buNone/>
            </a:pPr>
            <a:endParaRPr lang="ru-RU" sz="1000" b="1" dirty="0" smtClean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ru-RU" sz="2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Лаб. управления и навигации МГУ им. М.В. Ломоносова 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1718117" y="5974185"/>
            <a:ext cx="46409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Оценки аномалии на траектории полета</a:t>
            </a:r>
            <a:endParaRPr lang="en-GB" dirty="0"/>
          </a:p>
        </p:txBody>
      </p:sp>
      <p:pic>
        <p:nvPicPr>
          <p:cNvPr id="9" name="Picture 4" descr="plane-li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1888" y="1071563"/>
            <a:ext cx="8785225" cy="528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6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8335" y="178512"/>
            <a:ext cx="11152417" cy="1016000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Данные спутникового приемника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9556" y="686512"/>
            <a:ext cx="10708019" cy="50339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ru-RU" sz="1000" dirty="0"/>
          </a:p>
          <a:p>
            <a:pPr marL="457200" lvl="1" indent="0">
              <a:buNone/>
            </a:pPr>
            <a:endParaRPr lang="ru-RU" sz="1000" b="1" dirty="0" smtClean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ru-RU" sz="2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Лаб. управления и навигации МГУ им. М.В. Ломоносова </a:t>
            </a:r>
          </a:p>
        </p:txBody>
      </p:sp>
      <p:pic>
        <p:nvPicPr>
          <p:cNvPr id="7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424" y="1194512"/>
            <a:ext cx="8259328" cy="4875575"/>
          </a:xfrm>
          <a:prstGeom prst="rect">
            <a:avLst/>
          </a:prstGeom>
        </p:spPr>
      </p:pic>
      <p:sp>
        <p:nvSpPr>
          <p:cNvPr id="8" name="Скругленный прямоугольник 7"/>
          <p:cNvSpPr/>
          <p:nvPr/>
        </p:nvSpPr>
        <p:spPr>
          <a:xfrm>
            <a:off x="284494" y="1577498"/>
            <a:ext cx="2745785" cy="410960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u="sng" dirty="0" smtClean="0">
                <a:solidFill>
                  <a:schemeClr val="tx1"/>
                </a:solidFill>
              </a:rPr>
              <a:t>Данные ГНСС:</a:t>
            </a:r>
            <a:endParaRPr lang="en-US" sz="2200" u="sng" dirty="0" smtClean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200" dirty="0" smtClean="0">
                <a:solidFill>
                  <a:schemeClr val="tx1"/>
                </a:solidFill>
              </a:rPr>
              <a:t>Широта, долгота, высота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200" dirty="0" smtClean="0">
                <a:solidFill>
                  <a:schemeClr val="tx1"/>
                </a:solidFill>
              </a:rPr>
              <a:t>Три скорости (проекции на восток, север и вверх)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200" dirty="0" smtClean="0">
                <a:solidFill>
                  <a:schemeClr val="tx1"/>
                </a:solidFill>
              </a:rPr>
              <a:t>Три ускорения (</a:t>
            </a:r>
            <a:r>
              <a:rPr lang="ru-RU" sz="2200" dirty="0">
                <a:solidFill>
                  <a:schemeClr val="tx1"/>
                </a:solidFill>
              </a:rPr>
              <a:t>проекции на восток, север и вверх</a:t>
            </a:r>
            <a:r>
              <a:rPr lang="ru-RU" sz="2200" dirty="0" smtClean="0">
                <a:solidFill>
                  <a:schemeClr val="tx1"/>
                </a:solidFill>
              </a:rPr>
              <a:t>)</a:t>
            </a:r>
            <a:endParaRPr lang="en-US" sz="2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35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8335" y="178512"/>
            <a:ext cx="11152417" cy="1016000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Аномалия силы тяжести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9556" y="686512"/>
            <a:ext cx="10708019" cy="50339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ru-RU" sz="1000" dirty="0"/>
          </a:p>
          <a:p>
            <a:pPr marL="457200" lvl="1" indent="0">
              <a:buNone/>
            </a:pPr>
            <a:endParaRPr lang="ru-RU" sz="1000" b="1" dirty="0" smtClean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ru-RU" sz="2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Лаб. управления и навигации МГУ им. М.В. Ломоносова 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1977656" y="5797588"/>
            <a:ext cx="776619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Аномалия силы тяжести, посчитанная на траектории полета</a:t>
            </a:r>
            <a:endParaRPr lang="en-GB" sz="2200" dirty="0"/>
          </a:p>
        </p:txBody>
      </p:sp>
      <p:pic>
        <p:nvPicPr>
          <p:cNvPr id="7" name="Picture 4" descr="anomaly-fligh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18117" y="1187739"/>
            <a:ext cx="7559675" cy="47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8336" y="178512"/>
            <a:ext cx="10515600" cy="1016000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Карта аномалий по всем полетам съемки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106" y="680566"/>
            <a:ext cx="10515600" cy="50339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ru-RU" sz="1000" dirty="0"/>
          </a:p>
          <a:p>
            <a:pPr marL="457200" lvl="1" indent="0">
              <a:buNone/>
            </a:pPr>
            <a:endParaRPr lang="ru-RU" sz="1000" b="1" dirty="0"/>
          </a:p>
          <a:p>
            <a:pPr lvl="1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Лаб. управления и навигации МГУ им. М.В. Ломоносова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980438" y="-1623856"/>
            <a:ext cx="5877516" cy="8586603"/>
          </a:xfrm>
          <a:prstGeom prst="rect">
            <a:avLst/>
          </a:prstGeom>
          <a:noFill/>
          <a:effectLst>
            <a:glow>
              <a:schemeClr val="accent1"/>
            </a:glow>
            <a:reflection endPos="0" dist="50800" dir="5400000" sy="-100000" algn="bl" rotWithShape="0"/>
            <a:softEdge rad="0"/>
          </a:effectLst>
        </p:spPr>
      </p:pic>
      <p:sp>
        <p:nvSpPr>
          <p:cNvPr id="8" name="Прямоугольник 7"/>
          <p:cNvSpPr/>
          <p:nvPr/>
        </p:nvSpPr>
        <p:spPr>
          <a:xfrm>
            <a:off x="3610047" y="5686697"/>
            <a:ext cx="59452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Карта аномалии силы тяжести и линии съемочных </a:t>
            </a:r>
            <a:r>
              <a:rPr lang="ru-RU" dirty="0" err="1" smtClean="0"/>
              <a:t>галсов</a:t>
            </a:r>
            <a:r>
              <a:rPr lang="ru-RU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34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8336" y="178512"/>
            <a:ext cx="10515600" cy="1016000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Итоговая 3</a:t>
            </a:r>
            <a:r>
              <a:rPr lang="en-US" b="1" dirty="0" smtClean="0">
                <a:solidFill>
                  <a:srgbClr val="C00000"/>
                </a:solidFill>
              </a:rPr>
              <a:t>D-</a:t>
            </a:r>
            <a:r>
              <a:rPr lang="ru-RU" b="1" dirty="0" smtClean="0">
                <a:solidFill>
                  <a:srgbClr val="C00000"/>
                </a:solidFill>
              </a:rPr>
              <a:t>модель аномалии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106" y="680566"/>
            <a:ext cx="10515600" cy="50339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ru-RU" sz="1000" dirty="0"/>
          </a:p>
          <a:p>
            <a:pPr marL="457200" lvl="1" indent="0">
              <a:buNone/>
            </a:pPr>
            <a:endParaRPr lang="ru-RU" sz="1000" b="1" dirty="0"/>
          </a:p>
          <a:p>
            <a:pPr lvl="1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Лаб. управления и навигации МГУ им. М.В. Ломоносова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971680" y="5448832"/>
            <a:ext cx="46409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Аномалия силы тяжести в 3-</a:t>
            </a:r>
            <a:r>
              <a:rPr lang="en-US" dirty="0" smtClean="0"/>
              <a:t>D</a:t>
            </a:r>
            <a:r>
              <a:rPr lang="ru-RU" dirty="0" smtClean="0"/>
              <a:t>.</a:t>
            </a:r>
            <a:endParaRPr lang="en-GB" dirty="0"/>
          </a:p>
        </p:txBody>
      </p:sp>
      <p:pic>
        <p:nvPicPr>
          <p:cNvPr id="9" name="Picture 4" descr="NMED5-3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06612" y="990791"/>
            <a:ext cx="7978775" cy="453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4874</TotalTime>
  <Words>512</Words>
  <Application>Microsoft Office PowerPoint</Application>
  <PresentationFormat>Широкоэкранный</PresentationFormat>
  <Paragraphs>112</Paragraphs>
  <Slides>13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Times New Roman</vt:lpstr>
      <vt:lpstr>Wingdings</vt:lpstr>
      <vt:lpstr>Тема Office</vt:lpstr>
      <vt:lpstr>Equation</vt:lpstr>
      <vt:lpstr>Аэрогравиметрия </vt:lpstr>
      <vt:lpstr>Обзор доклада</vt:lpstr>
      <vt:lpstr>Аэрогравиметрия</vt:lpstr>
      <vt:lpstr>Области применения результатов съемок</vt:lpstr>
      <vt:lpstr>Аэрогравиметр GT-2A</vt:lpstr>
      <vt:lpstr>Аэрогравиметр GT-2A</vt:lpstr>
      <vt:lpstr>Задачи аэрогравиметрии</vt:lpstr>
      <vt:lpstr>Основное уравнение аэрогравиметрии</vt:lpstr>
      <vt:lpstr>Пример траектории полета</vt:lpstr>
      <vt:lpstr>Данные спутникового приемника</vt:lpstr>
      <vt:lpstr>Аномалия силы тяжести</vt:lpstr>
      <vt:lpstr>Карта аномалий по всем полетам съемки</vt:lpstr>
      <vt:lpstr>Итоговая 3D-модель аномалии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GT2A data post-processing. Part 1. GPS, GPS-INS solutions.    GT2A data post-processing. Part 2. Gravimetric solutions.   2017, November</dc:title>
  <dc:creator>Andrew</dc:creator>
  <cp:lastModifiedBy>Пользователь Windows</cp:lastModifiedBy>
  <cp:revision>653</cp:revision>
  <dcterms:created xsi:type="dcterms:W3CDTF">2017-11-05T10:12:13Z</dcterms:created>
  <dcterms:modified xsi:type="dcterms:W3CDTF">2025-11-01T16:40:41Z</dcterms:modified>
</cp:coreProperties>
</file>